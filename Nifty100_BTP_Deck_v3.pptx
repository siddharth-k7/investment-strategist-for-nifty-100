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BTP cover. Source: shared Google Sheet 'Finance'. Every number in this deck was profiled directly with pandas.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Emphasise that stages 1-3 consume most of the effort and that nothing downstream can be trusted without them.</a:t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ten are computed once during ETL and stored in the fact tables, so Power BI, the notebooks and the API cannot disagree.</a:t>
            </a:r>
            <a:endParaRPr/>
          </a:p>
        </p:txBody>
      </p:sp>
      <p:sp>
        <p:nvSpPr>
          <p:cNvPr id="258" name="Google Shape;2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235440" y="-1371600"/>
            <a:ext cx="5120640" cy="512064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66928" y="9326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B.TECH PROJECT  ·  IIIT SRI 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66928" y="1298448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Nifty 100 Financial Dataset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6928" y="1810512"/>
            <a:ext cx="8503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This Data Is,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What Data Science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 Do With It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" y="413308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6BA"/>
                </a:solidFill>
                <a:latin typeface="Calibri"/>
                <a:ea typeface="Calibri"/>
                <a:cs typeface="Calibri"/>
                <a:sym typeface="Calibri"/>
              </a:rPr>
              <a:t>7 source tables · 5,488 rows · 100 companies · ~13 years of Indian listed-company financials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566928" y="4864608"/>
            <a:ext cx="8503920" cy="0"/>
          </a:xfrm>
          <a:prstGeom prst="straightConnector1">
            <a:avLst/>
          </a:prstGeom>
          <a:noFill/>
          <a:ln cap="flat" cmpd="sng" w="15875">
            <a:solidFill>
              <a:srgbClr val="2442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566928" y="51023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66928" y="53949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Siddharth Kancharla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66928" y="5797296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3rd Year B.Tech · Artificial Intelligence &amp; Data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40680" y="51023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PROJECT GUIDE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40680" y="53949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Pavan Kumar BN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40680" y="5797296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B.Tech Project (BTP)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METADATA · OVERVIEW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Dataset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66928" y="1325880"/>
            <a:ext cx="2587752" cy="132588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49808" y="148132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A9D8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49808" y="2066544"/>
            <a:ext cx="225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source 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92424" y="1325880"/>
            <a:ext cx="2587752" cy="132588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575304" y="148132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5,488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575304" y="2066544"/>
            <a:ext cx="225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data rows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217920" y="1325880"/>
            <a:ext cx="2587752" cy="132588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400800" y="148132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100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0" y="2066544"/>
            <a:ext cx="225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companies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043416" y="1325880"/>
            <a:ext cx="2587752" cy="132588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226296" y="148132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A9D8F"/>
                </a:solidFill>
                <a:latin typeface="Cambria"/>
                <a:ea typeface="Cambria"/>
                <a:cs typeface="Cambria"/>
                <a:sym typeface="Cambria"/>
              </a:rPr>
              <a:t>2011–24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226296" y="2066544"/>
            <a:ext cx="2258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financial years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66928" y="2880360"/>
            <a:ext cx="5486400" cy="306324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86384" y="307238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What the data 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86384" y="3566160"/>
            <a:ext cx="502920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Real financials of India's 100 largest listed companies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Three annual statements each — P&amp;L, balance sheet, cash 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All money in INR Crore, roughly 13 years per company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Fundamentals only — no prices, no volumes, no quarterly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272784" y="2880360"/>
            <a:ext cx="5349240" cy="306324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492240" y="307238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How it is keyed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492240" y="354787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rPr>
              <a:t>company_id  ×  year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92240" y="4160520"/>
            <a:ext cx="4937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company_id is a text ticker — TCS, HDFCBANK, INFY — not a number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Every one of the 7 tables joins on that single string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year is the messiest field in the whole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METADATA · INVENTORY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The 7 Tables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66928" y="1078992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331720" y="1078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ROWS × COLS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840480" y="1078992"/>
            <a:ext cx="1783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760720" y="1078992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WHAT IT HOLDS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1316736"/>
            <a:ext cx="11265408" cy="612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66928" y="1517904"/>
            <a:ext cx="118872" cy="118872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68096" y="13898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companies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331720" y="138988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92 ×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840480" y="13898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1 per company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760720" y="138988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Master record — name, about, links, ROCE %, ROE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66928" y="2176272"/>
            <a:ext cx="118872" cy="118872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768096" y="204825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profitandloss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331720" y="204825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1,276 ×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840480" y="2048256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 ×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760720" y="204825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Sales, profit, margins, EPS, dividend payout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2633472"/>
            <a:ext cx="11265408" cy="612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66928" y="2834640"/>
            <a:ext cx="118872" cy="118872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68096" y="270662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balancesheet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331720" y="2706624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1,312 × 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840480" y="2706624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 ×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760720" y="2706624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Equity, reserves, borrowings, assets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66928" y="3493008"/>
            <a:ext cx="118872" cy="118872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68096" y="336499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cashflow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331720" y="3364992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1,187 ×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840480" y="336499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 ×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760720" y="3364992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Operating, investing, financing cash 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3950208"/>
            <a:ext cx="11265408" cy="612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66928" y="4151376"/>
            <a:ext cx="118872" cy="118872"/>
          </a:xfrm>
          <a:prstGeom prst="ellipse">
            <a:avLst/>
          </a:prstGeom>
          <a:solidFill>
            <a:srgbClr val="5A6B7B"/>
          </a:solidFill>
          <a:ln cap="flat" cmpd="sng" w="12700">
            <a:solidFill>
              <a:srgbClr val="5A6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68096" y="4023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331720" y="4023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1,585 ×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840480" y="40233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 ×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760720" y="402336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BSE annual-report PDF links, 2007–2024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66928" y="4809744"/>
            <a:ext cx="118872" cy="118872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768096" y="46817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331720" y="468172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20 ×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840480" y="468172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 × period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760720" y="468172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10Y / 5Y / 3Y growth — stored as text, 5 companies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5266944"/>
            <a:ext cx="11265408" cy="612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66928" y="5468112"/>
            <a:ext cx="118872" cy="118872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68096" y="534009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proandcons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331720" y="534009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16 ×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840480" y="5340096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 × insight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760720" y="534009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Curated pros and cons text, 5 companies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66928" y="610819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Green = the three annual fact tables carrying almost all analytical value.  Amber = tables that exist but cover only 5 companies.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METADATA · RELATIONSHIPS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How the Tables Connect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617720" y="2788920"/>
            <a:ext cx="2971800" cy="1234440"/>
          </a:xfrm>
          <a:prstGeom prst="roundRect">
            <a:avLst>
              <a:gd fmla="val 5926" name="adj"/>
            </a:avLst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7E95A8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617720" y="2926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companies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617720" y="331012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92 rows · the spine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617720" y="35844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6C8"/>
                </a:solidFill>
                <a:latin typeface="Calibri"/>
                <a:ea typeface="Calibri"/>
                <a:cs typeface="Calibri"/>
                <a:sym typeface="Calibri"/>
              </a:rPr>
              <a:t>key: company_id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85800" y="1325880"/>
            <a:ext cx="2971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8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A8BCCC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85800" y="1472184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profitandloss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85800" y="1801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1,276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5800" y="20574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company_id + 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617720" y="1325880"/>
            <a:ext cx="2971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8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A8BCCC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617720" y="1472184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balancesheet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617720" y="1801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1,312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617720" y="20574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company_id + 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549640" y="1325880"/>
            <a:ext cx="2971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87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A8BCCC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549640" y="1472184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cashflow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549640" y="1801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1,187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549640" y="20574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company_id + 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85800" y="4754880"/>
            <a:ext cx="2971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875">
            <a:solidFill>
              <a:srgbClr val="5A6B7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A8BCCC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85800" y="4901184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85800" y="5230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1,585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85800" y="54864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company_id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17720" y="4754880"/>
            <a:ext cx="2971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875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A8BCCC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617720" y="4901184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617720" y="5230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20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17720" y="54864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company_id + period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549640" y="4754880"/>
            <a:ext cx="2971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875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12700">
              <a:srgbClr val="A8BCCC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8549640" y="4901184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proandcons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549640" y="5230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16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549640" y="54864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company_id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2176272" y="2377440"/>
            <a:ext cx="2944368" cy="411480"/>
          </a:xfrm>
          <a:prstGeom prst="straightConnector1">
            <a:avLst/>
          </a:prstGeom>
          <a:noFill/>
          <a:ln cap="flat" cmpd="sng" w="22225">
            <a:solidFill>
              <a:srgbClr val="7C97A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6"/>
          <p:cNvCxnSpPr/>
          <p:nvPr/>
        </p:nvCxnSpPr>
        <p:spPr>
          <a:xfrm>
            <a:off x="6108192" y="2377440"/>
            <a:ext cx="0" cy="411480"/>
          </a:xfrm>
          <a:prstGeom prst="straightConnector1">
            <a:avLst/>
          </a:prstGeom>
          <a:noFill/>
          <a:ln cap="flat" cmpd="sng" w="22225">
            <a:solidFill>
              <a:srgbClr val="7C97A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3" name="Google Shape;143;p6"/>
          <p:cNvCxnSpPr/>
          <p:nvPr/>
        </p:nvCxnSpPr>
        <p:spPr>
          <a:xfrm flipH="1">
            <a:off x="7086600" y="2377440"/>
            <a:ext cx="2953512" cy="411480"/>
          </a:xfrm>
          <a:prstGeom prst="straightConnector1">
            <a:avLst/>
          </a:prstGeom>
          <a:noFill/>
          <a:ln cap="flat" cmpd="sng" w="22225">
            <a:solidFill>
              <a:srgbClr val="7C97A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4" name="Google Shape;144;p6"/>
          <p:cNvCxnSpPr/>
          <p:nvPr/>
        </p:nvCxnSpPr>
        <p:spPr>
          <a:xfrm flipH="1" rot="10800000">
            <a:off x="2176272" y="4023360"/>
            <a:ext cx="2944368" cy="731520"/>
          </a:xfrm>
          <a:prstGeom prst="straightConnector1">
            <a:avLst/>
          </a:prstGeom>
          <a:noFill/>
          <a:ln cap="flat" cmpd="sng" w="22225">
            <a:solidFill>
              <a:srgbClr val="7C97A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5" name="Google Shape;145;p6"/>
          <p:cNvCxnSpPr/>
          <p:nvPr/>
        </p:nvCxnSpPr>
        <p:spPr>
          <a:xfrm>
            <a:off x="6108192" y="4023360"/>
            <a:ext cx="0" cy="731520"/>
          </a:xfrm>
          <a:prstGeom prst="straightConnector1">
            <a:avLst/>
          </a:prstGeom>
          <a:noFill/>
          <a:ln cap="flat" cmpd="sng" w="22225">
            <a:solidFill>
              <a:srgbClr val="7C97A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6" name="Google Shape;146;p6"/>
          <p:cNvCxnSpPr/>
          <p:nvPr/>
        </p:nvCxnSpPr>
        <p:spPr>
          <a:xfrm rot="10800000">
            <a:off x="7086600" y="4023360"/>
            <a:ext cx="2953512" cy="731520"/>
          </a:xfrm>
          <a:prstGeom prst="straightConnector1">
            <a:avLst/>
          </a:prstGeom>
          <a:noFill/>
          <a:ln cap="flat" cmpd="sng" w="22225">
            <a:solidFill>
              <a:srgbClr val="7C97A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/>
          <p:nvPr/>
        </p:nvSpPr>
        <p:spPr>
          <a:xfrm>
            <a:off x="566928" y="60533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One string key holds the whole model together. There is no integer ID and no sector column — a sector dimension has to be built from scratch.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METADATA · PURPOSE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What Each Table Lets You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66928" y="1325880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86384" y="1563624"/>
            <a:ext cx="128016" cy="12801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005840" y="147218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A6B7B"/>
                </a:solidFill>
                <a:latin typeface="Courier New"/>
                <a:ea typeface="Courier New"/>
                <a:cs typeface="Courier New"/>
                <a:sym typeface="Courier New"/>
              </a:rPr>
              <a:t>profitandloss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86384" y="18745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Is the company profitable?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86384" y="23682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sales · net_profit · opm_percentage · 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6384" y="280720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Margins, earnings quality and growth over 12 years.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190488" y="1325880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409944" y="1563624"/>
            <a:ext cx="128016" cy="12801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629400" y="147218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A6B7B"/>
                </a:solidFill>
                <a:latin typeface="Courier New"/>
                <a:ea typeface="Courier New"/>
                <a:cs typeface="Courier New"/>
                <a:sym typeface="Courier New"/>
              </a:rPr>
              <a:t>balancesheet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9944" y="18745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Is it financially safe?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09944" y="23682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borrowings · reserves · total_assets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09944" y="280720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Leverage, solvency and how efficiently assets are used.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66928" y="3776472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86384" y="4014216"/>
            <a:ext cx="128016" cy="12801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05840" y="392277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A6B7B"/>
                </a:solidFill>
                <a:latin typeface="Courier New"/>
                <a:ea typeface="Courier New"/>
                <a:cs typeface="Courier New"/>
                <a:sym typeface="Courier New"/>
              </a:rPr>
              <a:t>cashflow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86384" y="432511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Is the profit real cash?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86384" y="481888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operating · investing · financing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86384" y="525780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Separates genuine cash earners from accounting profit.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90488" y="3776472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409944" y="4014216"/>
            <a:ext cx="128016" cy="128016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629400" y="392277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5A6B7B"/>
                </a:solidFill>
                <a:latin typeface="Courier New"/>
                <a:ea typeface="Courier New"/>
                <a:cs typeface="Courier New"/>
                <a:sym typeface="Courier New"/>
              </a:rPr>
              <a:t>companies + document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9944" y="432511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Who is this company?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9944" y="481888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about · roce_percentage · annual_report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409944" y="525780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Context, headline ratios and 1,585 annual-report PDFs.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PROJECT · END-TO-END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The Pipeline </a:t>
            </a:r>
            <a:r>
              <a:rPr b="1" lang="en-US" sz="3000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 What We Are Building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66928" y="1207008"/>
            <a:ext cx="11064240" cy="438912"/>
          </a:xfrm>
          <a:prstGeom prst="roundRect">
            <a:avLst>
              <a:gd fmla="val 10417" name="adj"/>
            </a:avLst>
          </a:prstGeom>
          <a:solidFill>
            <a:srgbClr val="E7EEF4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768096" y="1207008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527048" y="1207008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7 Google Sheets  ·  5,488 rows  ·  corrupted years, duplicate rows, no sector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66928" y="1810512"/>
            <a:ext cx="1965960" cy="1627632"/>
          </a:xfrm>
          <a:prstGeom prst="roundRect">
            <a:avLst>
              <a:gd fmla="val 3933" name="adj"/>
            </a:avLst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F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13232" y="1956816"/>
            <a:ext cx="274320" cy="274320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13232" y="19568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060704" y="19568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13232" y="23774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Pull all 7 tables out of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the sheet into clean CSVs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66928" y="3657600"/>
            <a:ext cx="196596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13232" y="3767328"/>
            <a:ext cx="16733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13232" y="4023360"/>
            <a:ext cx="1673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data/raw/*.csv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row counts verified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574036" y="2487168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2825496" y="1810512"/>
            <a:ext cx="1965960" cy="1627632"/>
          </a:xfrm>
          <a:prstGeom prst="roundRect">
            <a:avLst>
              <a:gd fmla="val 3933" name="adj"/>
            </a:avLst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F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971800" y="1956816"/>
            <a:ext cx="274320" cy="274320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971800" y="19568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319272" y="19568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971800" y="23774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Fix years, drop duplicates,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build the sector map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825496" y="3657600"/>
            <a:ext cx="196596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2971800" y="3767328"/>
            <a:ext cx="16733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971800" y="4023360"/>
            <a:ext cx="1673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One row 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company per 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832604" y="2487168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084064" y="1810512"/>
            <a:ext cx="1965960" cy="1627632"/>
          </a:xfrm>
          <a:prstGeom prst="roundRect">
            <a:avLst>
              <a:gd fmla="val 3933" name="adj"/>
            </a:avLst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F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230368" y="1956816"/>
            <a:ext cx="274320" cy="274320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230368" y="19568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577840" y="19568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230368" y="23774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Star schema in PostgreSQL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plus 10 computed ratios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84064" y="3657600"/>
            <a:ext cx="196596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230368" y="3767328"/>
            <a:ext cx="16733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230368" y="4023360"/>
            <a:ext cx="1673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with quality gates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091172" y="2487168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342632" y="1810512"/>
            <a:ext cx="1965960" cy="1627632"/>
          </a:xfrm>
          <a:prstGeom prst="roundRect">
            <a:avLst>
              <a:gd fmla="val 3933" name="adj"/>
            </a:avLst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F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488936" y="1956816"/>
            <a:ext cx="274320" cy="274320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7488936" y="19568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836408" y="19568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488936" y="23774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EDA notebooks 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four ML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342632" y="3657600"/>
            <a:ext cx="196596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488936" y="3767328"/>
            <a:ext cx="16733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488936" y="4023360"/>
            <a:ext cx="1673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Scores, anomalies,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peers, forecasts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349740" y="2487168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9601200" y="1810512"/>
            <a:ext cx="1965960" cy="1627632"/>
          </a:xfrm>
          <a:prstGeom prst="roundRect">
            <a:avLst>
              <a:gd fmla="val 3933" name="adj"/>
            </a:avLst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F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9747504" y="1956816"/>
            <a:ext cx="274320" cy="274320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9747504" y="19568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094976" y="19568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747504" y="23774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Power BI, Django site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and the partner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601200" y="3657600"/>
            <a:ext cx="196596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9747504" y="3767328"/>
            <a:ext cx="16733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747504" y="4023360"/>
            <a:ext cx="1673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7 dashboards,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live site, live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66928" y="4983480"/>
            <a:ext cx="11064240" cy="502920"/>
          </a:xfrm>
          <a:prstGeom prst="roundRect">
            <a:avLst>
              <a:gd fmla="val 9091" name="adj"/>
            </a:avLst>
          </a:prstGeom>
          <a:solidFill>
            <a:srgbClr val="16324F"/>
          </a:solidFill>
          <a:ln cap="flat" cmpd="sng" w="12700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68096" y="498348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618488" y="4983480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trustworthy warehouse  ·  100 scored companies  ·  7 dashboards  ·  a secured public and partner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66928" y="566928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Stages 1–3 are the foundation: every number produced in stages 4 and 5 is only as accurate as the warehouse underneath them.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PIPELINE · DATA ENGINEERING &amp; EDA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Stages 1–3 — Building the Foundation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66928" y="132588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04672" y="1536192"/>
            <a:ext cx="274320" cy="274320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804672" y="1536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225296" y="148132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Engineering the warehouse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04672" y="2103120"/>
            <a:ext cx="49834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Standardise every year into fiscal_year, sort_order and an is_ttm flag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De-duplicate down to one genuine row per company per year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Build the missing sector dimension for all 100 companies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Compute 10 financial ratios and load a star schema into PostgreSQL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199632" y="132588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437376" y="1536192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6437376" y="1536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858000" y="148132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Exploring what is really there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37376" y="2103120"/>
            <a:ext cx="49834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Map the missing data — which companies and years are actually usable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Benchmark every sector on margin, ROE and leverage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Test correlations and isolate the extreme outliers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Compare operating cash flow against reported profit — the earnings-quality check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66928" y="60807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Output: a warehouse that can be trusted, and a documented understanding of its limits.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PIPELINE · FEATURE ENGINEERING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The 10 Indicators — and Their Formulas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66928" y="1325880"/>
            <a:ext cx="5440680" cy="219456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786384" y="1563624"/>
            <a:ext cx="128016" cy="12801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005840" y="1453896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Profitability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804672" y="1892808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net_profit_margin 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04672" y="2121408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net_profit / sales × 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804672" y="2404872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return_on_assets 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04672" y="2633472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net_profit / total_assets × 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04672" y="2916936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expense_ratio 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04672" y="3145536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expenses / sales × 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190488" y="1325880"/>
            <a:ext cx="5440680" cy="219456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409944" y="1563624"/>
            <a:ext cx="128016" cy="128016"/>
          </a:xfrm>
          <a:prstGeom prst="ellipse">
            <a:avLst/>
          </a:prstGeom>
          <a:solidFill>
            <a:srgbClr val="D64545"/>
          </a:solidFill>
          <a:ln cap="flat" cmpd="sng" w="12700">
            <a:solidFill>
              <a:srgbClr val="D6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6629400" y="1453896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Leverage &amp; solvency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428232" y="1892808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debt_to_equity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428232" y="2121408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borrowings / (equity_capital + reserves)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428232" y="2404872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interest_coverage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428232" y="2633472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operating_profit / interest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428232" y="2916936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equity_ratio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28232" y="3145536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(equity_capital + reserves) / total_assets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66928" y="3721608"/>
            <a:ext cx="5440680" cy="1682496"/>
          </a:xfrm>
          <a:prstGeom prst="roundRect">
            <a:avLst>
              <a:gd fmla="val 3261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86384" y="3959352"/>
            <a:ext cx="128016" cy="128016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005840" y="384962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Cash quality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04672" y="4288536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free_cash_flow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804672" y="4517136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operating_activity + investing_activity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804672" y="4800600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cash_conversion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04672" y="5029200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operating_activity / net_profit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190488" y="3721608"/>
            <a:ext cx="5440680" cy="1682496"/>
          </a:xfrm>
          <a:prstGeom prst="roundRect">
            <a:avLst>
              <a:gd fmla="val 3261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6409944" y="3959352"/>
            <a:ext cx="128016" cy="128016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6629400" y="384962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Efficiency &amp; value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428232" y="4288536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asset_turnover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428232" y="4517136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sales / total_assets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428232" y="4800600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book_value_per_share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428232" y="5029200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733"/>
                </a:solidFill>
                <a:latin typeface="Courier New"/>
                <a:ea typeface="Courier New"/>
                <a:cs typeface="Courier New"/>
                <a:sym typeface="Courier New"/>
              </a:rPr>
              <a:t>= (equity_capital + reserves) / shares_outstanding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Growth metrics use  CAGR % = ((end / start) ^ (1 / n) − 1) × 100 ,  computed on annual rows only — TTM rows are excluded or they distort every result.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PIPELINE · MODELLING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Stage 4 — Four Machine Learning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66928" y="1325880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786384" y="1545336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786384" y="15453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188720" y="149047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Composite Health Score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804672" y="20391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A9D8F"/>
                </a:solidFill>
                <a:latin typeface="Courier New"/>
                <a:ea typeface="Courier New"/>
                <a:cs typeface="Courier New"/>
                <a:sym typeface="Courier New"/>
              </a:rPr>
              <a:t>Weighted 6-dimension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04672" y="2441448"/>
            <a:ext cx="4983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0.25 profitability + 0.20 growth + 0.20 leverage + 0.20 cash flow + 0.10 trend + 0.05 dividend, each normalised to 0–100.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190488" y="1325880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409944" y="1545336"/>
            <a:ext cx="274320" cy="274320"/>
          </a:xfrm>
          <a:prstGeom prst="ellipse">
            <a:avLst/>
          </a:prstGeom>
          <a:solidFill>
            <a:srgbClr val="D64545"/>
          </a:solidFill>
          <a:ln cap="flat" cmpd="sng" w="12700">
            <a:solidFill>
              <a:srgbClr val="D6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409944" y="15453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812280" y="149047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Anomaly Detection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28232" y="20391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D64545"/>
                </a:solidFill>
                <a:latin typeface="Courier New"/>
                <a:ea typeface="Courier New"/>
                <a:cs typeface="Courier New"/>
                <a:sym typeface="Courier New"/>
              </a:rPr>
              <a:t>Z-score + Isolation 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428232" y="2441448"/>
            <a:ext cx="4983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Flag company-years that break their own history — margin collapse, debt spikes, cash reversals.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66928" y="3776472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786384" y="3995928"/>
            <a:ext cx="274320" cy="274320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786384" y="39959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188720" y="3941064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Peer Grouping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804672" y="448970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rPr>
              <a:t>K-Means + cosine similarity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04672" y="4892040"/>
            <a:ext cx="4983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Group companies by financial behaviour and rank the 5 closest twins for any company.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190488" y="3776472"/>
            <a:ext cx="544068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409944" y="3995928"/>
            <a:ext cx="274320" cy="274320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6409944" y="39959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812280" y="3941064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Revenue Forecasting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28232" y="448970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2137"/>
                </a:solidFill>
                <a:latin typeface="Courier New"/>
                <a:ea typeface="Courier New"/>
                <a:cs typeface="Courier New"/>
                <a:sym typeface="Courier New"/>
              </a:rPr>
              <a:t>ARIMA / regression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428232" y="4892040"/>
            <a:ext cx="4983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Project next-year revenue and profit from 12 years of history, with confidence intervals.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66928" y="6144768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100 companies × 13 years gives roughly 1,300 observations across 30+ engineered features — enough to model without any external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PIPELINE · DELIVERY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Stage 5 — Dashboards and Product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66928" y="132588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804672" y="1536192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804672" y="1536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225296" y="148132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Power BI — 7 dashboards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04672" y="2103120"/>
            <a:ext cx="4983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Executive Overview and Sector Comparison — the whole universe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Company Deep Dive — the full story of one company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Health Scorecard — the ML scores made browsable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Growth, Debt &amp; Leverage, and Dividend monitors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804672" y="539496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A business user answers their own question without writing SQL.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199632" y="132588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6437376" y="1536192"/>
            <a:ext cx="274320" cy="274320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6437376" y="15361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858000" y="148132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Django — site and API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437376" y="2103120"/>
            <a:ext cx="4983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Public site — company pages, screener, compare and sector views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Eight interactive charts per company, served over AJAX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Partner API secured with HMAC-SHA256 and per-tier rate limits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Webhooks and scheduled jobs that re-score the universe automatically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437376" y="539496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The analysis stops being a notebook and becomes a system others depend 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EXECUTION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66928" y="548640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2137"/>
                </a:solidFill>
                <a:latin typeface="Cambria"/>
                <a:ea typeface="Cambria"/>
                <a:cs typeface="Cambria"/>
                <a:sym typeface="Cambria"/>
              </a:rPr>
              <a:t>Task → Output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49808" y="1207008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989320" y="120700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OUTPUT I WILL ACHIEVE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68096" y="1847088"/>
            <a:ext cx="128016" cy="128016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005840" y="1572768"/>
            <a:ext cx="5029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Clean and standardise the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3"/>
          <p:cNvCxnSpPr/>
          <p:nvPr/>
        </p:nvCxnSpPr>
        <p:spPr>
          <a:xfrm>
            <a:off x="5852160" y="1682496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3"/>
          <p:cNvSpPr/>
          <p:nvPr/>
        </p:nvSpPr>
        <p:spPr>
          <a:xfrm>
            <a:off x="6016752" y="1572768"/>
            <a:ext cx="5440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One unique company × year grain, sectors mapped, 10 ratios computed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66928" y="2432304"/>
            <a:ext cx="11064240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768096" y="2761488"/>
            <a:ext cx="128016" cy="128016"/>
          </a:xfrm>
          <a:prstGeom prst="ellipse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1005840" y="2487168"/>
            <a:ext cx="5029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Load the star schema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3"/>
          <p:cNvCxnSpPr/>
          <p:nvPr/>
        </p:nvCxnSpPr>
        <p:spPr>
          <a:xfrm>
            <a:off x="5852160" y="2596896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3"/>
          <p:cNvSpPr/>
          <p:nvPr/>
        </p:nvSpPr>
        <p:spPr>
          <a:xfrm>
            <a:off x="6016752" y="2487168"/>
            <a:ext cx="5440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 PostgreSQL warehouse with automated quality checks passing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66928" y="3346704"/>
            <a:ext cx="11064240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68096" y="3675888"/>
            <a:ext cx="128016" cy="12801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1005840" y="3401568"/>
            <a:ext cx="5029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Run the EDA notebook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13"/>
          <p:cNvCxnSpPr/>
          <p:nvPr/>
        </p:nvCxnSpPr>
        <p:spPr>
          <a:xfrm>
            <a:off x="5852160" y="3511296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3"/>
          <p:cNvSpPr/>
          <p:nvPr/>
        </p:nvSpPr>
        <p:spPr>
          <a:xfrm>
            <a:off x="6016752" y="3401568"/>
            <a:ext cx="5440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20+ visualisations and a written summary of the findings that matter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66928" y="4261104"/>
            <a:ext cx="11064240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768096" y="4590288"/>
            <a:ext cx="128016" cy="128016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1005840" y="4315968"/>
            <a:ext cx="5029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Score and model the universe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3"/>
          <p:cNvCxnSpPr/>
          <p:nvPr/>
        </p:nvCxnSpPr>
        <p:spPr>
          <a:xfrm>
            <a:off x="5852160" y="4425696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3"/>
          <p:cNvSpPr/>
          <p:nvPr/>
        </p:nvSpPr>
        <p:spPr>
          <a:xfrm>
            <a:off x="6016752" y="4315968"/>
            <a:ext cx="5440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Health score, anomaly flags and peer group for all 100 companies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566928" y="5175504"/>
            <a:ext cx="11064240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9FB2C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768096" y="5504688"/>
            <a:ext cx="128016" cy="12801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1005840" y="5230368"/>
            <a:ext cx="5029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Build and ship the front 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13"/>
          <p:cNvCxnSpPr/>
          <p:nvPr/>
        </p:nvCxnSpPr>
        <p:spPr>
          <a:xfrm>
            <a:off x="5852160" y="5340096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3"/>
          <p:cNvSpPr/>
          <p:nvPr/>
        </p:nvSpPr>
        <p:spPr>
          <a:xfrm>
            <a:off x="6016752" y="5230368"/>
            <a:ext cx="5440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7 Power BI dashboards, a live website and a secured partner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66928" y="6135624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Tasks, not dates. Each row is only marked done when its output actually exists and has been checked.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"/>
          <p:cNvSpPr/>
          <p:nvPr/>
        </p:nvSpPr>
        <p:spPr>
          <a:xfrm>
            <a:off x="9418320" y="3566160"/>
            <a:ext cx="4389120" cy="438912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566928" y="1417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THE END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66928" y="1755648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7 messy sheets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 a decision 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66928" y="3648456"/>
            <a:ext cx="146304" cy="146304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896112" y="3520440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warehouse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630168" y="3520440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One trustworthy source of truth for 100 companies across 13 years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66928" y="4361688"/>
            <a:ext cx="146304" cy="146304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896112" y="42336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Scored companies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3630168" y="4233672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Every company carries a health score, a peer group and an anomaly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566928" y="5074920"/>
            <a:ext cx="146304" cy="146304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896112" y="4946904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Self-serve BI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3630168" y="4946904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Seven dashboards the business can drive without asking for a 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66928" y="5788152"/>
            <a:ext cx="146304" cy="146304"/>
          </a:xfrm>
          <a:prstGeom prst="ellipse">
            <a:avLst/>
          </a:prstGeom>
          <a:solidFill>
            <a:srgbClr val="F2A541"/>
          </a:solidFill>
          <a:ln cap="flat" cmpd="sng" w="12700">
            <a:solidFill>
              <a:srgbClr val="F2A5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896112" y="5660136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product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3630168" y="5660136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4"/>
                </a:solidFill>
                <a:latin typeface="Calibri"/>
                <a:ea typeface="Calibri"/>
                <a:cs typeface="Calibri"/>
                <a:sym typeface="Calibri"/>
              </a:rPr>
              <a:t>A website and a secured API that expose all of it programmatically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